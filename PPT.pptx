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294" r:id="rId6"/>
    <p:sldId id="310" r:id="rId7"/>
    <p:sldId id="295" r:id="rId8"/>
    <p:sldId id="296" r:id="rId9"/>
    <p:sldId id="297" r:id="rId10"/>
    <p:sldId id="299" r:id="rId11"/>
    <p:sldId id="301" r:id="rId12"/>
    <p:sldId id="303" r:id="rId13"/>
    <p:sldId id="311"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CE8BEA-0210-C150-5C83-1CC9C2E75528}" v="6" dt="2026-10-01T08:26:55.08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45871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18093525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KODIDHALA SUPRIYA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254g1a33h2@srit.ac.in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6304400375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000" b="1" dirty="0">
                <a:highlight>
                  <a:srgbClr val="FFFF00"/>
                </a:highlight>
              </a:rPr>
              <a:t>Smart Study Generator Agent</a:t>
            </a:r>
            <a:endParaRPr lang="en-IN" dirty="0">
              <a:highlight>
                <a:srgbClr val="FFFF00"/>
              </a:highlight>
            </a:endParaRPr>
          </a:p>
        </p:txBody>
      </p:sp>
      <p:pic>
        <p:nvPicPr>
          <p:cNvPr id="3" name="Picture 2">
            <a:extLst>
              <a:ext uri="{FF2B5EF4-FFF2-40B4-BE49-F238E27FC236}">
                <a16:creationId xmlns:a16="http://schemas.microsoft.com/office/drawing/2014/main" id="{1BD2DACC-BA39-30A7-32FF-C3581316CD43}"/>
              </a:ext>
            </a:extLst>
          </p:cNvPr>
          <p:cNvPicPr>
            <a:picLocks noChangeAspect="1"/>
          </p:cNvPicPr>
          <p:nvPr/>
        </p:nvPicPr>
        <p:blipFill>
          <a:blip r:embed="rId3"/>
          <a:stretch>
            <a:fillRect/>
          </a:stretch>
        </p:blipFill>
        <p:spPr>
          <a:xfrm>
            <a:off x="3918586" y="3621711"/>
            <a:ext cx="1263015" cy="1002889"/>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386090"/>
          </a:xfrm>
          <a:prstGeom prst="rect">
            <a:avLst/>
          </a:prstGeom>
          <a:noFill/>
        </p:spPr>
        <p:txBody>
          <a:bodyPr wrap="square" rtlCol="0">
            <a:spAutoFit/>
          </a:bodyPr>
          <a:lstStyle/>
          <a:p>
            <a:r>
              <a:rPr lang="en-IN" sz="1800" b="1" dirty="0"/>
              <a:t>Problem Statement : Smart Study Generator Agent</a:t>
            </a:r>
          </a:p>
          <a:p>
            <a:endParaRPr lang="en-IN" dirty="0"/>
          </a:p>
          <a:p>
            <a:endParaRPr lang="en-IN" dirty="0"/>
          </a:p>
          <a:p>
            <a:r>
              <a:rPr lang="en-IN" sz="1600" b="1" dirty="0"/>
              <a:t>The Challenge</a:t>
            </a:r>
          </a:p>
          <a:p>
            <a:endParaRPr lang="en-IN" dirty="0"/>
          </a:p>
          <a:p>
            <a:r>
              <a:rPr lang="en-IN"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p>
          <a:p>
            <a:endParaRPr lang="en-IN" dirty="0"/>
          </a:p>
          <a:p>
            <a:r>
              <a:rPr lang="en-IN" sz="1600" b="1" dirty="0"/>
              <a:t>The Objective</a:t>
            </a:r>
          </a:p>
          <a:p>
            <a:endParaRPr lang="en-IN" dirty="0"/>
          </a:p>
          <a:p>
            <a:r>
              <a:rPr lang="en-IN" dirty="0"/>
              <a:t>Build an agentic AI-powered Smart Study Generator that personalizes and streamlines learning for students. The solution should:</a:t>
            </a:r>
          </a:p>
          <a:p>
            <a:pPr lvl="0"/>
            <a:r>
              <a:rPr lang="en-IN" b="1" dirty="0"/>
              <a:t>Fuse Learning Resources: </a:t>
            </a:r>
            <a:r>
              <a:rPr lang="en-IN" dirty="0"/>
              <a:t>Aggregate content from class notes, textbooks, research articles, and online tutorials into structured, easy-to-digest study material.</a:t>
            </a:r>
          </a:p>
          <a:p>
            <a:pPr lvl="0"/>
            <a:r>
              <a:rPr lang="en-IN" b="1" dirty="0"/>
              <a:t>Enable Multimodal Input:</a:t>
            </a:r>
            <a:r>
              <a:rPr lang="en-IN" dirty="0"/>
              <a:t> Allow students to upload notes, voice queries, or images (e.g., textbook pages), and generate concise summaries, flashcards, or concept maps.</a:t>
            </a:r>
          </a:p>
          <a:p>
            <a:pPr lvl="0"/>
            <a:r>
              <a:rPr lang="en-IN" b="1" dirty="0"/>
              <a:t>Create a Predictive &amp; Agentic Layer:</a:t>
            </a:r>
            <a:r>
              <a:rPr lang="en-IN" dirty="0"/>
              <a:t> Recommend personalized study plans, highlight important topics based on syllabus or past exams, and provide predictive alerts (e.g., “Focus on Topic X—frequently asked in exams”).</a:t>
            </a:r>
          </a:p>
          <a:p>
            <a:pPr lvl="0"/>
            <a:r>
              <a:rPr lang="en-IN" b="1" dirty="0"/>
              <a:t>Visualize Study Progress:</a:t>
            </a:r>
            <a:r>
              <a:rPr lang="en-IN" dirty="0"/>
              <a:t> Offer a real-time dashboard showing learning milestones, weak areas, practice quizzes, and performance forecasts.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477750" y="418952"/>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792480" y="1480246"/>
            <a:ext cx="10607040" cy="4185761"/>
          </a:xfrm>
          <a:prstGeom prst="rect">
            <a:avLst/>
          </a:prstGeom>
          <a:noFill/>
        </p:spPr>
        <p:txBody>
          <a:bodyPr wrap="square" rtlCol="0">
            <a:spAutoFit/>
          </a:bodyPr>
          <a:lstStyle/>
          <a:p>
            <a:pPr fontAlgn="base"/>
            <a:endParaRPr lang="en-US" b="1" dirty="0"/>
          </a:p>
          <a:p>
            <a:r>
              <a:rPr lang="en-US" b="1" dirty="0"/>
              <a:t>Proposed Solution: </a:t>
            </a:r>
            <a:r>
              <a:rPr lang="en-IN" b="1" dirty="0"/>
              <a:t>Smart Study Generator Agent </a:t>
            </a:r>
            <a:endParaRPr lang="en-US" b="1" dirty="0"/>
          </a:p>
          <a:p>
            <a:endParaRPr lang="en-US" b="1" dirty="0"/>
          </a:p>
          <a:p>
            <a:pPr fontAlgn="base">
              <a:lnSpc>
                <a:spcPct val="150000"/>
              </a:lnSpc>
            </a:pPr>
            <a:r>
              <a:rPr lang="en-IN" dirty="0"/>
              <a:t>The proposed solution is to develop a web-based </a:t>
            </a:r>
            <a:r>
              <a:rPr lang="en-IN" b="1" dirty="0"/>
              <a:t>Smart Study Generator Agent using Python and IBM Granite LLM</a:t>
            </a:r>
            <a:r>
              <a:rPr lang="en-IN" dirty="0"/>
              <a:t> that provides personalized and intelligent study support for students. The system collects student details, subjects, learning preferences, available study hours, and examination dates to generate customized study plans. It </a:t>
            </a:r>
            <a:r>
              <a:rPr lang="en-IN" dirty="0" err="1"/>
              <a:t>analyzes</a:t>
            </a:r>
            <a:r>
              <a:rPr lang="en-IN" dirty="0"/>
              <a:t> uploaded study materials and automatically creates concise notes, chapter summaries, important questions, quizzes, flashcards, and revision schedules. An interactive AI assistant helps students understand difficult concepts and resolve academic queries in simple language. The agentic AI workflow includes material analysis, content generation, validation, progress tracking, and adaptive recommendations. The application uses responsible AI practices, privacy protection, and guardrails to reduce inaccurate or misleading content. The solution aims to save students’ time, improve learning efficiency, and support effective examination preparation through an accessible, user-friendly web application.</a:t>
            </a:r>
          </a:p>
          <a:p>
            <a:pPr fontAlgn="base">
              <a:lnSpc>
                <a:spcPct val="150000"/>
              </a:lnSpc>
            </a:pPr>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47744" y="728677"/>
            <a:ext cx="7123176" cy="830997"/>
          </a:xfrm>
          <a:prstGeom prst="rect">
            <a:avLst/>
          </a:prstGeom>
          <a:noFill/>
        </p:spPr>
        <p:txBody>
          <a:bodyPr wrap="square" lIns="91440" tIns="45720" rIns="91440" bIns="45720" rtlCol="0" anchor="t">
            <a:spAutoFit/>
          </a:bodyPr>
          <a:lstStyle/>
          <a:p>
            <a:r>
              <a:rPr lang="en-US" sz="2400" b="1" dirty="0"/>
              <a:t>Technology Used</a:t>
            </a:r>
          </a:p>
          <a:p>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899160" y="1728118"/>
            <a:ext cx="10515600" cy="4401205"/>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endParaRPr lang="en-US" sz="1800" dirty="0"/>
          </a:p>
          <a:p>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85A0893-CD57-8E28-CFB3-B8658CB01356}"/>
              </a:ext>
            </a:extLst>
          </p:cNvPr>
          <p:cNvGraphicFramePr>
            <a:graphicFrameLocks noGrp="1"/>
          </p:cNvGraphicFramePr>
          <p:nvPr>
            <p:extLst>
              <p:ext uri="{D42A27DB-BD31-4B8C-83A1-F6EECF244321}">
                <p14:modId xmlns:p14="http://schemas.microsoft.com/office/powerpoint/2010/main" val="2970521112"/>
              </p:ext>
            </p:extLst>
          </p:nvPr>
        </p:nvGraphicFramePr>
        <p:xfrm>
          <a:off x="707923" y="845574"/>
          <a:ext cx="10645878" cy="5243606"/>
        </p:xfrm>
        <a:graphic>
          <a:graphicData uri="http://schemas.openxmlformats.org/drawingml/2006/table">
            <a:tbl>
              <a:tblPr>
                <a:tableStyleId>{0AAD8F4D-43EB-41E5-8A38-28AB6DFB1B60}</a:tableStyleId>
              </a:tblPr>
              <a:tblGrid>
                <a:gridCol w="5322939">
                  <a:extLst>
                    <a:ext uri="{9D8B030D-6E8A-4147-A177-3AD203B41FA5}">
                      <a16:colId xmlns:a16="http://schemas.microsoft.com/office/drawing/2014/main" val="3469149717"/>
                    </a:ext>
                  </a:extLst>
                </a:gridCol>
                <a:gridCol w="5322939">
                  <a:extLst>
                    <a:ext uri="{9D8B030D-6E8A-4147-A177-3AD203B41FA5}">
                      <a16:colId xmlns:a16="http://schemas.microsoft.com/office/drawing/2014/main" val="3819168559"/>
                    </a:ext>
                  </a:extLst>
                </a:gridCol>
              </a:tblGrid>
              <a:tr h="382745">
                <a:tc>
                  <a:txBody>
                    <a:bodyPr/>
                    <a:lstStyle/>
                    <a:p>
                      <a:pPr>
                        <a:buNone/>
                      </a:pPr>
                      <a:r>
                        <a:rPr lang="en-IN" b="1" dirty="0"/>
                        <a:t>Technology</a:t>
                      </a:r>
                    </a:p>
                  </a:txBody>
                  <a:tcPr anchor="ctr"/>
                </a:tc>
                <a:tc>
                  <a:txBody>
                    <a:bodyPr/>
                    <a:lstStyle/>
                    <a:p>
                      <a:pPr>
                        <a:buNone/>
                      </a:pPr>
                      <a:r>
                        <a:rPr lang="en-IN"/>
                        <a:t>Purpose</a:t>
                      </a:r>
                    </a:p>
                  </a:txBody>
                  <a:tcPr anchor="ctr"/>
                </a:tc>
                <a:extLst>
                  <a:ext uri="{0D108BD9-81ED-4DB2-BD59-A6C34878D82A}">
                    <a16:rowId xmlns:a16="http://schemas.microsoft.com/office/drawing/2014/main" val="301177747"/>
                  </a:ext>
                </a:extLst>
              </a:tr>
              <a:tr h="382745">
                <a:tc>
                  <a:txBody>
                    <a:bodyPr/>
                    <a:lstStyle/>
                    <a:p>
                      <a:pPr>
                        <a:buNone/>
                      </a:pPr>
                      <a:r>
                        <a:rPr lang="en-IN" b="1" dirty="0"/>
                        <a:t>Python</a:t>
                      </a:r>
                    </a:p>
                  </a:txBody>
                  <a:tcPr anchor="ctr"/>
                </a:tc>
                <a:tc>
                  <a:txBody>
                    <a:bodyPr/>
                    <a:lstStyle/>
                    <a:p>
                      <a:pPr>
                        <a:buNone/>
                      </a:pPr>
                      <a:r>
                        <a:rPr lang="en-IN"/>
                        <a:t>Backend development and agent workflow management</a:t>
                      </a:r>
                    </a:p>
                  </a:txBody>
                  <a:tcPr anchor="ctr"/>
                </a:tc>
                <a:extLst>
                  <a:ext uri="{0D108BD9-81ED-4DB2-BD59-A6C34878D82A}">
                    <a16:rowId xmlns:a16="http://schemas.microsoft.com/office/drawing/2014/main" val="3191599642"/>
                  </a:ext>
                </a:extLst>
              </a:tr>
              <a:tr h="650666">
                <a:tc>
                  <a:txBody>
                    <a:bodyPr/>
                    <a:lstStyle/>
                    <a:p>
                      <a:pPr>
                        <a:buNone/>
                      </a:pPr>
                      <a:r>
                        <a:rPr lang="en-IN" b="1" dirty="0"/>
                        <a:t>IBM Granite LLM</a:t>
                      </a:r>
                    </a:p>
                  </a:txBody>
                  <a:tcPr anchor="ctr"/>
                </a:tc>
                <a:tc>
                  <a:txBody>
                    <a:bodyPr/>
                    <a:lstStyle/>
                    <a:p>
                      <a:pPr>
                        <a:buNone/>
                      </a:pPr>
                      <a:r>
                        <a:rPr lang="en-IN"/>
                        <a:t>Generates study plans, summaries, notes, quizzes, and explanations</a:t>
                      </a:r>
                    </a:p>
                  </a:txBody>
                  <a:tcPr anchor="ctr"/>
                </a:tc>
                <a:extLst>
                  <a:ext uri="{0D108BD9-81ED-4DB2-BD59-A6C34878D82A}">
                    <a16:rowId xmlns:a16="http://schemas.microsoft.com/office/drawing/2014/main" val="3370966316"/>
                  </a:ext>
                </a:extLst>
              </a:tr>
              <a:tr h="382745">
                <a:tc>
                  <a:txBody>
                    <a:bodyPr/>
                    <a:lstStyle/>
                    <a:p>
                      <a:pPr>
                        <a:buNone/>
                      </a:pPr>
                      <a:r>
                        <a:rPr lang="en-IN" b="1" dirty="0"/>
                        <a:t>IBM watsonx.ai</a:t>
                      </a:r>
                    </a:p>
                  </a:txBody>
                  <a:tcPr anchor="ctr"/>
                </a:tc>
                <a:tc>
                  <a:txBody>
                    <a:bodyPr/>
                    <a:lstStyle/>
                    <a:p>
                      <a:pPr>
                        <a:buNone/>
                      </a:pPr>
                      <a:r>
                        <a:rPr lang="en-IN"/>
                        <a:t>Provides access to the IBM Granite model</a:t>
                      </a:r>
                    </a:p>
                  </a:txBody>
                  <a:tcPr anchor="ctr"/>
                </a:tc>
                <a:extLst>
                  <a:ext uri="{0D108BD9-81ED-4DB2-BD59-A6C34878D82A}">
                    <a16:rowId xmlns:a16="http://schemas.microsoft.com/office/drawing/2014/main" val="307347757"/>
                  </a:ext>
                </a:extLst>
              </a:tr>
              <a:tr h="382745">
                <a:tc>
                  <a:txBody>
                    <a:bodyPr/>
                    <a:lstStyle/>
                    <a:p>
                      <a:pPr>
                        <a:buNone/>
                      </a:pPr>
                      <a:r>
                        <a:rPr lang="en-IN" b="1" dirty="0" err="1"/>
                        <a:t>Streamlit</a:t>
                      </a:r>
                      <a:endParaRPr lang="en-IN" b="1" dirty="0"/>
                    </a:p>
                  </a:txBody>
                  <a:tcPr anchor="ctr"/>
                </a:tc>
                <a:tc>
                  <a:txBody>
                    <a:bodyPr/>
                    <a:lstStyle/>
                    <a:p>
                      <a:pPr>
                        <a:buNone/>
                      </a:pPr>
                      <a:r>
                        <a:rPr lang="en-IN"/>
                        <a:t>Creates the interactive web application interface</a:t>
                      </a:r>
                    </a:p>
                  </a:txBody>
                  <a:tcPr anchor="ctr"/>
                </a:tc>
                <a:extLst>
                  <a:ext uri="{0D108BD9-81ED-4DB2-BD59-A6C34878D82A}">
                    <a16:rowId xmlns:a16="http://schemas.microsoft.com/office/drawing/2014/main" val="3978413420"/>
                  </a:ext>
                </a:extLst>
              </a:tr>
              <a:tr h="382745">
                <a:tc>
                  <a:txBody>
                    <a:bodyPr/>
                    <a:lstStyle/>
                    <a:p>
                      <a:pPr>
                        <a:buNone/>
                      </a:pPr>
                      <a:r>
                        <a:rPr lang="en-IN" b="1" dirty="0" err="1"/>
                        <a:t>PyPDF</a:t>
                      </a:r>
                      <a:endParaRPr lang="en-IN" b="1" dirty="0"/>
                    </a:p>
                  </a:txBody>
                  <a:tcPr anchor="ctr"/>
                </a:tc>
                <a:tc>
                  <a:txBody>
                    <a:bodyPr/>
                    <a:lstStyle/>
                    <a:p>
                      <a:pPr>
                        <a:buNone/>
                      </a:pPr>
                      <a:r>
                        <a:rPr lang="en-IN"/>
                        <a:t>Extracts text from PDF study materials</a:t>
                      </a:r>
                    </a:p>
                  </a:txBody>
                  <a:tcPr anchor="ctr"/>
                </a:tc>
                <a:extLst>
                  <a:ext uri="{0D108BD9-81ED-4DB2-BD59-A6C34878D82A}">
                    <a16:rowId xmlns:a16="http://schemas.microsoft.com/office/drawing/2014/main" val="1365649589"/>
                  </a:ext>
                </a:extLst>
              </a:tr>
              <a:tr h="382745">
                <a:tc>
                  <a:txBody>
                    <a:bodyPr/>
                    <a:lstStyle/>
                    <a:p>
                      <a:pPr>
                        <a:buNone/>
                      </a:pPr>
                      <a:r>
                        <a:rPr lang="en-IN" b="1" dirty="0"/>
                        <a:t>Python Libraries</a:t>
                      </a:r>
                    </a:p>
                  </a:txBody>
                  <a:tcPr anchor="ctr"/>
                </a:tc>
                <a:tc>
                  <a:txBody>
                    <a:bodyPr/>
                    <a:lstStyle/>
                    <a:p>
                      <a:pPr>
                        <a:buNone/>
                      </a:pPr>
                      <a:r>
                        <a:rPr lang="en-IN"/>
                        <a:t>Process text, validate inputs, and manage application logic</a:t>
                      </a:r>
                    </a:p>
                  </a:txBody>
                  <a:tcPr anchor="ctr"/>
                </a:tc>
                <a:extLst>
                  <a:ext uri="{0D108BD9-81ED-4DB2-BD59-A6C34878D82A}">
                    <a16:rowId xmlns:a16="http://schemas.microsoft.com/office/drawing/2014/main" val="1751410652"/>
                  </a:ext>
                </a:extLst>
              </a:tr>
              <a:tr h="382745">
                <a:tc>
                  <a:txBody>
                    <a:bodyPr/>
                    <a:lstStyle/>
                    <a:p>
                      <a:pPr>
                        <a:buNone/>
                      </a:pPr>
                      <a:r>
                        <a:rPr lang="en-IN" b="1" dirty="0"/>
                        <a:t>SQLite</a:t>
                      </a:r>
                    </a:p>
                  </a:txBody>
                  <a:tcPr anchor="ctr"/>
                </a:tc>
                <a:tc>
                  <a:txBody>
                    <a:bodyPr/>
                    <a:lstStyle/>
                    <a:p>
                      <a:pPr>
                        <a:buNone/>
                      </a:pPr>
                      <a:r>
                        <a:rPr lang="en-IN"/>
                        <a:t>Stores student details, study plans, quiz results, and progress</a:t>
                      </a:r>
                    </a:p>
                  </a:txBody>
                  <a:tcPr anchor="ctr"/>
                </a:tc>
                <a:extLst>
                  <a:ext uri="{0D108BD9-81ED-4DB2-BD59-A6C34878D82A}">
                    <a16:rowId xmlns:a16="http://schemas.microsoft.com/office/drawing/2014/main" val="2416019773"/>
                  </a:ext>
                </a:extLst>
              </a:tr>
              <a:tr h="382745">
                <a:tc>
                  <a:txBody>
                    <a:bodyPr/>
                    <a:lstStyle/>
                    <a:p>
                      <a:pPr>
                        <a:buNone/>
                      </a:pPr>
                      <a:r>
                        <a:rPr lang="en-IN" b="1" dirty="0"/>
                        <a:t>HTML &amp; CSS</a:t>
                      </a:r>
                    </a:p>
                  </a:txBody>
                  <a:tcPr anchor="ctr"/>
                </a:tc>
                <a:tc>
                  <a:txBody>
                    <a:bodyPr/>
                    <a:lstStyle/>
                    <a:p>
                      <a:pPr>
                        <a:buNone/>
                      </a:pPr>
                      <a:r>
                        <a:rPr lang="en-IN"/>
                        <a:t>Customize the web interface and styling</a:t>
                      </a:r>
                    </a:p>
                  </a:txBody>
                  <a:tcPr anchor="ctr"/>
                </a:tc>
                <a:extLst>
                  <a:ext uri="{0D108BD9-81ED-4DB2-BD59-A6C34878D82A}">
                    <a16:rowId xmlns:a16="http://schemas.microsoft.com/office/drawing/2014/main" val="137640345"/>
                  </a:ext>
                </a:extLst>
              </a:tr>
              <a:tr h="382745">
                <a:tc>
                  <a:txBody>
                    <a:bodyPr/>
                    <a:lstStyle/>
                    <a:p>
                      <a:pPr>
                        <a:buNone/>
                      </a:pPr>
                      <a:r>
                        <a:rPr lang="en-IN" b="1" dirty="0"/>
                        <a:t>Git &amp; GitHub</a:t>
                      </a:r>
                    </a:p>
                  </a:txBody>
                  <a:tcPr anchor="ctr"/>
                </a:tc>
                <a:tc>
                  <a:txBody>
                    <a:bodyPr/>
                    <a:lstStyle/>
                    <a:p>
                      <a:pPr>
                        <a:buNone/>
                      </a:pPr>
                      <a:r>
                        <a:rPr lang="en-IN"/>
                        <a:t>Version control and project hosting</a:t>
                      </a:r>
                    </a:p>
                  </a:txBody>
                  <a:tcPr anchor="ctr"/>
                </a:tc>
                <a:extLst>
                  <a:ext uri="{0D108BD9-81ED-4DB2-BD59-A6C34878D82A}">
                    <a16:rowId xmlns:a16="http://schemas.microsoft.com/office/drawing/2014/main" val="4261485525"/>
                  </a:ext>
                </a:extLst>
              </a:tr>
              <a:tr h="382745">
                <a:tc>
                  <a:txBody>
                    <a:bodyPr/>
                    <a:lstStyle/>
                    <a:p>
                      <a:pPr>
                        <a:buNone/>
                      </a:pPr>
                      <a:r>
                        <a:rPr lang="en-IN" b="1" dirty="0"/>
                        <a:t>Windows Batch (.bat)</a:t>
                      </a:r>
                    </a:p>
                  </a:txBody>
                  <a:tcPr anchor="ctr"/>
                </a:tc>
                <a:tc>
                  <a:txBody>
                    <a:bodyPr/>
                    <a:lstStyle/>
                    <a:p>
                      <a:pPr>
                        <a:buNone/>
                      </a:pPr>
                      <a:r>
                        <a:rPr lang="en-IN"/>
                        <a:t>Automates dependency installation and application startup</a:t>
                      </a:r>
                    </a:p>
                  </a:txBody>
                  <a:tcPr anchor="ctr"/>
                </a:tc>
                <a:extLst>
                  <a:ext uri="{0D108BD9-81ED-4DB2-BD59-A6C34878D82A}">
                    <a16:rowId xmlns:a16="http://schemas.microsoft.com/office/drawing/2014/main" val="3913294700"/>
                  </a:ext>
                </a:extLst>
              </a:tr>
              <a:tr h="382745">
                <a:tc>
                  <a:txBody>
                    <a:bodyPr/>
                    <a:lstStyle/>
                    <a:p>
                      <a:pPr>
                        <a:buNone/>
                      </a:pPr>
                      <a:r>
                        <a:rPr lang="en-IN" b="1" dirty="0"/>
                        <a:t>Markdown (.md)</a:t>
                      </a:r>
                    </a:p>
                  </a:txBody>
                  <a:tcPr anchor="ctr"/>
                </a:tc>
                <a:tc>
                  <a:txBody>
                    <a:bodyPr/>
                    <a:lstStyle/>
                    <a:p>
                      <a:pPr>
                        <a:buNone/>
                      </a:pPr>
                      <a:r>
                        <a:rPr lang="en-IN"/>
                        <a:t>Stores project documentation and the implementation plan</a:t>
                      </a:r>
                    </a:p>
                  </a:txBody>
                  <a:tcPr anchor="ctr"/>
                </a:tc>
                <a:extLst>
                  <a:ext uri="{0D108BD9-81ED-4DB2-BD59-A6C34878D82A}">
                    <a16:rowId xmlns:a16="http://schemas.microsoft.com/office/drawing/2014/main" val="4040104734"/>
                  </a:ext>
                </a:extLst>
              </a:tr>
              <a:tr h="382745">
                <a:tc>
                  <a:txBody>
                    <a:bodyPr/>
                    <a:lstStyle/>
                    <a:p>
                      <a:pPr>
                        <a:buNone/>
                      </a:pPr>
                      <a:r>
                        <a:rPr lang="en-IN" b="1" dirty="0"/>
                        <a:t>Python-</a:t>
                      </a:r>
                      <a:r>
                        <a:rPr lang="en-IN" b="1" dirty="0" err="1"/>
                        <a:t>dotenv</a:t>
                      </a:r>
                      <a:endParaRPr lang="en-IN" b="1" dirty="0"/>
                    </a:p>
                  </a:txBody>
                  <a:tcPr anchor="ctr"/>
                </a:tc>
                <a:tc>
                  <a:txBody>
                    <a:bodyPr/>
                    <a:lstStyle/>
                    <a:p>
                      <a:pPr>
                        <a:buNone/>
                      </a:pPr>
                      <a:r>
                        <a:rPr lang="en-IN" dirty="0"/>
                        <a:t>Manages API keys securely through environment variables</a:t>
                      </a:r>
                    </a:p>
                  </a:txBody>
                  <a:tcPr anchor="ctr"/>
                </a:tc>
                <a:extLst>
                  <a:ext uri="{0D108BD9-81ED-4DB2-BD59-A6C34878D82A}">
                    <a16:rowId xmlns:a16="http://schemas.microsoft.com/office/drawing/2014/main" val="3476849281"/>
                  </a:ext>
                </a:extLst>
              </a:tr>
            </a:tbl>
          </a:graphicData>
        </a:graphic>
      </p:graphicFrame>
    </p:spTree>
    <p:extLst>
      <p:ext uri="{BB962C8B-B14F-4D97-AF65-F5344CB8AC3E}">
        <p14:creationId xmlns:p14="http://schemas.microsoft.com/office/powerpoint/2010/main" val="3839696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3908762"/>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endParaRPr lang="en-US" sz="1800" dirty="0"/>
          </a:p>
          <a:p>
            <a:r>
              <a:rPr lang="en-US" sz="1800" dirty="0"/>
              <a:t>3.  .env</a:t>
            </a:r>
          </a:p>
          <a:p>
            <a:pPr marL="342900" indent="-342900">
              <a:buFont typeface="+mj-lt"/>
              <a:buAutoNum type="arabicPeriod"/>
            </a:pPr>
            <a:endParaRPr lang="en-US" sz="18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BCD6CADB-A826-A5B6-3F73-794FD142E783}"/>
              </a:ext>
            </a:extLst>
          </p:cNvPr>
          <p:cNvPicPr>
            <a:picLocks noChangeAspect="1"/>
          </p:cNvPicPr>
          <p:nvPr/>
        </p:nvPicPr>
        <p:blipFill>
          <a:blip r:embed="rId3"/>
          <a:srcRect/>
          <a:stretch/>
        </p:blipFill>
        <p:spPr>
          <a:xfrm>
            <a:off x="3236744" y="1022409"/>
            <a:ext cx="8302227" cy="4972404"/>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pic>
        <p:nvPicPr>
          <p:cNvPr id="10" name="Picture 9">
            <a:extLst>
              <a:ext uri="{FF2B5EF4-FFF2-40B4-BE49-F238E27FC236}">
                <a16:creationId xmlns:a16="http://schemas.microsoft.com/office/drawing/2014/main" id="{F1543880-FD9B-9532-70B0-9A448A96F6BC}"/>
              </a:ext>
            </a:extLst>
          </p:cNvPr>
          <p:cNvPicPr>
            <a:picLocks noChangeAspect="1"/>
          </p:cNvPicPr>
          <p:nvPr/>
        </p:nvPicPr>
        <p:blipFill>
          <a:blip r:embed="rId3"/>
          <a:srcRect/>
          <a:stretch/>
        </p:blipFill>
        <p:spPr>
          <a:xfrm>
            <a:off x="1736560" y="1105781"/>
            <a:ext cx="8515350" cy="4789884"/>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rcRect/>
          <a:stretch/>
        </p:blipFill>
        <p:spPr>
          <a:xfrm>
            <a:off x="648442" y="400546"/>
            <a:ext cx="10163182"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7880371" y="449782"/>
            <a:ext cx="4036325" cy="5420076"/>
          </a:xfrm>
          <a:prstGeom prst="rect">
            <a:avLst/>
          </a:prstGeom>
          <a:noFill/>
          <a:ln>
            <a:noFill/>
          </a:ln>
        </p:spPr>
      </p:pic>
      <p:sp>
        <p:nvSpPr>
          <p:cNvPr id="3" name="TextBox 2">
            <a:extLst>
              <a:ext uri="{FF2B5EF4-FFF2-40B4-BE49-F238E27FC236}">
                <a16:creationId xmlns:a16="http://schemas.microsoft.com/office/drawing/2014/main" id="{322462E8-EB3A-DA7D-44CB-4E757803A755}"/>
              </a:ext>
            </a:extLst>
          </p:cNvPr>
          <p:cNvSpPr txBox="1"/>
          <p:nvPr/>
        </p:nvSpPr>
        <p:spPr>
          <a:xfrm>
            <a:off x="475488" y="283464"/>
            <a:ext cx="7508306" cy="6124754"/>
          </a:xfrm>
          <a:prstGeom prst="rect">
            <a:avLst/>
          </a:prstGeom>
          <a:noFill/>
        </p:spPr>
        <p:txBody>
          <a:bodyPr wrap="square" rtlCol="0">
            <a:spAutoFit/>
          </a:bodyPr>
          <a:lstStyle/>
          <a:p>
            <a:r>
              <a:rPr lang="en-IN" sz="2800" b="1" dirty="0"/>
              <a:t>Role of Agentic AI in Smart Study Generator Agent:</a:t>
            </a:r>
          </a:p>
          <a:p>
            <a:endParaRPr lang="en-IN" sz="2800" b="1" dirty="0"/>
          </a:p>
          <a:p>
            <a:pPr>
              <a:lnSpc>
                <a:spcPct val="150000"/>
              </a:lnSpc>
            </a:pPr>
            <a:r>
              <a:rPr lang="en-IN" b="1" dirty="0"/>
              <a:t>Agentic AI </a:t>
            </a:r>
            <a:r>
              <a:rPr lang="en-IN" dirty="0"/>
              <a:t>plays a key role in making the </a:t>
            </a:r>
            <a:r>
              <a:rPr lang="en-IN" b="1" dirty="0"/>
              <a:t>Smart Study Generator an intelligent, </a:t>
            </a:r>
            <a:r>
              <a:rPr lang="en-IN" dirty="0"/>
              <a:t>personalized, and adaptive learning system. Unlike a basic chatbot that only answers questions, the agent follows a structured workflow to </a:t>
            </a:r>
            <a:r>
              <a:rPr lang="en-IN" dirty="0" err="1"/>
              <a:t>analyze</a:t>
            </a:r>
            <a:r>
              <a:rPr lang="en-IN" dirty="0"/>
              <a:t> study materials, plan learning activities, evaluate student performance, and recommend improvements.</a:t>
            </a:r>
          </a:p>
          <a:p>
            <a:pPr>
              <a:lnSpc>
                <a:spcPct val="150000"/>
              </a:lnSpc>
            </a:pPr>
            <a:r>
              <a:rPr lang="en-IN" b="1" dirty="0"/>
              <a:t>1. Student Requirement Analysis:</a:t>
            </a:r>
            <a:r>
              <a:rPr lang="en-IN" dirty="0"/>
              <a:t> Collects student details, subjects, examination dates, learning preferences, and available study hours.</a:t>
            </a:r>
          </a:p>
          <a:p>
            <a:pPr>
              <a:lnSpc>
                <a:spcPct val="150000"/>
              </a:lnSpc>
            </a:pPr>
            <a:r>
              <a:rPr lang="en-IN" b="1" dirty="0"/>
              <a:t>2. Intelligent Material Analysis: </a:t>
            </a:r>
            <a:r>
              <a:rPr lang="en-IN" dirty="0"/>
              <a:t>Analyses uploaded PDFs, notes, and textbooks to identify key concepts, important topics, and difficult areas.</a:t>
            </a:r>
          </a:p>
          <a:p>
            <a:pPr>
              <a:lnSpc>
                <a:spcPct val="150000"/>
              </a:lnSpc>
            </a:pPr>
            <a:r>
              <a:rPr lang="en-IN" b="1" dirty="0"/>
              <a:t>3. Personalized Study Planning: </a:t>
            </a:r>
            <a:r>
              <a:rPr lang="en-IN" dirty="0"/>
              <a:t>Creates customized study timetables based on the syllabus, exam schedule, and student's learning needs.</a:t>
            </a:r>
          </a:p>
          <a:p>
            <a:pPr>
              <a:lnSpc>
                <a:spcPct val="150000"/>
              </a:lnSpc>
            </a:pPr>
            <a:r>
              <a:rPr lang="en-IN" b="1" dirty="0"/>
              <a:t>4. Automatic Content Generation: </a:t>
            </a:r>
            <a:r>
              <a:rPr lang="en-IN" dirty="0"/>
              <a:t>Uses IBM Granite LLM to generate summaries, short notes, important questions, flashcards, and practice quizzes.</a:t>
            </a:r>
          </a:p>
          <a:p>
            <a:pPr>
              <a:lnSpc>
                <a:spcPct val="150000"/>
              </a:lnSpc>
            </a:pPr>
            <a:r>
              <a:rPr lang="en-IN" b="1" dirty="0"/>
              <a:t>5. AI-Based Doubt Resolution: </a:t>
            </a:r>
            <a:r>
              <a:rPr lang="en-IN" dirty="0"/>
              <a:t>Answers academic questions and explains complex concepts in simple language.</a:t>
            </a:r>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rcRect/>
          <a:stretch/>
        </p:blipFill>
        <p:spPr>
          <a:xfrm>
            <a:off x="611981" y="885593"/>
            <a:ext cx="10758199"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rcRect/>
          <a:stretch/>
        </p:blipFill>
        <p:spPr>
          <a:xfrm>
            <a:off x="804493" y="961421"/>
            <a:ext cx="10583014" cy="562222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9B63CC-15BD-5831-D013-DF3E91834312}"/>
              </a:ext>
            </a:extLst>
          </p:cNvPr>
          <p:cNvSpPr txBox="1"/>
          <p:nvPr/>
        </p:nvSpPr>
        <p:spPr>
          <a:xfrm>
            <a:off x="452284" y="344128"/>
            <a:ext cx="6066503" cy="461665"/>
          </a:xfrm>
          <a:prstGeom prst="rect">
            <a:avLst/>
          </a:prstGeom>
          <a:noFill/>
        </p:spPr>
        <p:txBody>
          <a:bodyPr wrap="square" rtlCol="0">
            <a:spAutoFit/>
          </a:bodyPr>
          <a:lstStyle/>
          <a:p>
            <a:r>
              <a:rPr lang="en-US" sz="2400" b="1" dirty="0">
                <a:sym typeface="Times New Roman"/>
              </a:rPr>
              <a:t>Project Output Screenshot</a:t>
            </a:r>
            <a:endParaRPr lang="en-IN" sz="2400" dirty="0"/>
          </a:p>
        </p:txBody>
      </p:sp>
      <p:pic>
        <p:nvPicPr>
          <p:cNvPr id="4" name="Picture 3">
            <a:extLst>
              <a:ext uri="{FF2B5EF4-FFF2-40B4-BE49-F238E27FC236}">
                <a16:creationId xmlns:a16="http://schemas.microsoft.com/office/drawing/2014/main" id="{F6F901BC-CB37-4D0B-EBFC-B62050674F2A}"/>
              </a:ext>
            </a:extLst>
          </p:cNvPr>
          <p:cNvPicPr>
            <a:picLocks noChangeAspect="1"/>
          </p:cNvPicPr>
          <p:nvPr/>
        </p:nvPicPr>
        <p:blipFill>
          <a:blip r:embed="rId2"/>
          <a:stretch>
            <a:fillRect/>
          </a:stretch>
        </p:blipFill>
        <p:spPr>
          <a:xfrm>
            <a:off x="393867" y="1580534"/>
            <a:ext cx="4886055" cy="3854246"/>
          </a:xfrm>
          <a:prstGeom prst="rect">
            <a:avLst/>
          </a:prstGeom>
        </p:spPr>
      </p:pic>
      <p:pic>
        <p:nvPicPr>
          <p:cNvPr id="6" name="Picture 5">
            <a:extLst>
              <a:ext uri="{FF2B5EF4-FFF2-40B4-BE49-F238E27FC236}">
                <a16:creationId xmlns:a16="http://schemas.microsoft.com/office/drawing/2014/main" id="{00BC2279-EFFB-2F47-2175-F856998B3D1A}"/>
              </a:ext>
            </a:extLst>
          </p:cNvPr>
          <p:cNvPicPr>
            <a:picLocks noChangeAspect="1"/>
          </p:cNvPicPr>
          <p:nvPr/>
        </p:nvPicPr>
        <p:blipFill>
          <a:blip r:embed="rId3"/>
          <a:stretch>
            <a:fillRect/>
          </a:stretch>
        </p:blipFill>
        <p:spPr>
          <a:xfrm>
            <a:off x="5407741" y="1580534"/>
            <a:ext cx="6764594" cy="3723969"/>
          </a:xfrm>
          <a:prstGeom prst="rect">
            <a:avLst/>
          </a:prstGeom>
        </p:spPr>
      </p:pic>
    </p:spTree>
    <p:extLst>
      <p:ext uri="{BB962C8B-B14F-4D97-AF65-F5344CB8AC3E}">
        <p14:creationId xmlns:p14="http://schemas.microsoft.com/office/powerpoint/2010/main" val="1220774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494504"/>
            <a:ext cx="11204153" cy="5155257"/>
          </a:xfrm>
          <a:prstGeom prst="rect">
            <a:avLst/>
          </a:prstGeom>
          <a:noFill/>
        </p:spPr>
        <p:txBody>
          <a:bodyPr wrap="square" rtlCol="0">
            <a:spAutoFit/>
          </a:bodyPr>
          <a:lstStyle/>
          <a:p>
            <a:pPr>
              <a:lnSpc>
                <a:spcPct val="150000"/>
              </a:lnSpc>
            </a:pPr>
            <a:r>
              <a:rPr lang="en-IN" b="1" dirty="0"/>
              <a:t>1. Personalized Learning</a:t>
            </a:r>
          </a:p>
          <a:p>
            <a:pPr>
              <a:lnSpc>
                <a:spcPct val="150000"/>
              </a:lnSpc>
            </a:pPr>
            <a:r>
              <a:rPr lang="en-IN" dirty="0"/>
              <a:t>Generates customized study plans based on student details, subjects, learning preferences, and examination dates.</a:t>
            </a:r>
          </a:p>
          <a:p>
            <a:pPr>
              <a:lnSpc>
                <a:spcPct val="150000"/>
              </a:lnSpc>
            </a:pPr>
            <a:r>
              <a:rPr lang="en-IN" b="1" dirty="0"/>
              <a:t>2. AI-Powered Study Material Generation</a:t>
            </a:r>
          </a:p>
          <a:p>
            <a:pPr>
              <a:lnSpc>
                <a:spcPct val="150000"/>
              </a:lnSpc>
            </a:pPr>
            <a:r>
              <a:rPr lang="en-IN" dirty="0"/>
              <a:t>Uses IBM Granite LLM to create concise notes, summaries, important questions, quizzes, and flashcards.</a:t>
            </a:r>
          </a:p>
          <a:p>
            <a:pPr>
              <a:lnSpc>
                <a:spcPct val="150000"/>
              </a:lnSpc>
            </a:pPr>
            <a:r>
              <a:rPr lang="en-IN" b="1" dirty="0"/>
              <a:t>3. Intelligent Document Analysis</a:t>
            </a:r>
          </a:p>
          <a:p>
            <a:pPr>
              <a:lnSpc>
                <a:spcPct val="150000"/>
              </a:lnSpc>
            </a:pPr>
            <a:r>
              <a:rPr lang="en-IN" dirty="0" err="1"/>
              <a:t>Analyzes</a:t>
            </a:r>
            <a:r>
              <a:rPr lang="en-IN" dirty="0"/>
              <a:t> uploaded PDFs, lecture notes, and textbooks to identify key concepts and important topics.</a:t>
            </a:r>
          </a:p>
          <a:p>
            <a:pPr>
              <a:lnSpc>
                <a:spcPct val="150000"/>
              </a:lnSpc>
            </a:pPr>
            <a:r>
              <a:rPr lang="en-IN" b="1" dirty="0"/>
              <a:t>4. Adaptive Learning System</a:t>
            </a:r>
          </a:p>
          <a:p>
            <a:pPr>
              <a:lnSpc>
                <a:spcPct val="150000"/>
              </a:lnSpc>
            </a:pPr>
            <a:r>
              <a:rPr lang="en-IN" dirty="0"/>
              <a:t>Identifies weak areas from quiz performance and recommends targeted revision and additional practice.</a:t>
            </a:r>
          </a:p>
          <a:p>
            <a:pPr>
              <a:lnSpc>
                <a:spcPct val="150000"/>
              </a:lnSpc>
            </a:pPr>
            <a:r>
              <a:rPr lang="en-IN" b="1" dirty="0"/>
              <a:t>5. Interactive AI Study Assistant</a:t>
            </a:r>
          </a:p>
          <a:p>
            <a:pPr>
              <a:lnSpc>
                <a:spcPct val="150000"/>
              </a:lnSpc>
            </a:pPr>
            <a:r>
              <a:rPr lang="en-IN" dirty="0"/>
              <a:t>Resolves academic queries and explains complex concepts in simple, student-friendly language.</a:t>
            </a:r>
          </a:p>
          <a:p>
            <a:pPr>
              <a:lnSpc>
                <a:spcPct val="150000"/>
              </a:lnSpc>
            </a:pPr>
            <a:r>
              <a:rPr lang="en-IN" b="1" dirty="0"/>
              <a:t>6. Automated Study Planning</a:t>
            </a:r>
          </a:p>
          <a:p>
            <a:pPr>
              <a:lnSpc>
                <a:spcPct val="150000"/>
              </a:lnSpc>
            </a:pPr>
            <a:r>
              <a:rPr lang="en-IN" dirty="0"/>
              <a:t>Creates topic-wise timetables based on the syllabus, available study hours, and exam deadlines.</a:t>
            </a:r>
          </a:p>
          <a:p>
            <a:pPr>
              <a:lnSpc>
                <a:spcPct val="150000"/>
              </a:lnSpc>
            </a:pPr>
            <a:r>
              <a:rPr lang="en-IN" b="1" dirty="0"/>
              <a:t>7. Continuous Progress Tracking</a:t>
            </a:r>
          </a:p>
          <a:p>
            <a:pPr>
              <a:lnSpc>
                <a:spcPct val="150000"/>
              </a:lnSpc>
            </a:pPr>
            <a:r>
              <a:rPr lang="en-IN" dirty="0"/>
              <a:t>Tracks completed topics, quiz scores, and revision progress to help students monitor their preparation.</a:t>
            </a:r>
          </a:p>
          <a:p>
            <a:pPr>
              <a:lnSpc>
                <a:spcPct val="150000"/>
              </a:lnSpc>
            </a:pPr>
            <a:endParaRPr lang="en-IN"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904092" y="432795"/>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366684" y="1406013"/>
            <a:ext cx="9066620" cy="4024700"/>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–https://github.com/supriya2908/SMART-STUDY-GENERATOR-AGENT</a:t>
            </a:r>
          </a:p>
          <a:p>
            <a:pPr lvl="0">
              <a:lnSpc>
                <a:spcPct val="162162"/>
              </a:lnSpc>
              <a:buClr>
                <a:srgbClr val="2B3541"/>
              </a:buClr>
              <a:buSzPts val="1850"/>
            </a:pPr>
            <a:br>
              <a:rPr lang="en-US" sz="1850" dirty="0">
                <a:solidFill>
                  <a:srgbClr val="2B3541"/>
                </a:solidFill>
                <a:latin typeface="Times New Roman"/>
                <a:ea typeface="Times New Roman"/>
                <a:cs typeface="Times New Roman"/>
                <a:sym typeface="Times New Roman"/>
              </a:rPr>
            </a:b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992272"/>
          </a:xfrm>
          <a:prstGeom prst="rect">
            <a:avLst/>
          </a:prstGeom>
          <a:noFill/>
          <a:ln>
            <a:noFill/>
          </a:ln>
        </p:spPr>
        <p:txBody>
          <a:bodyPr spcFirstLastPara="1" wrap="square" lIns="0" tIns="0" rIns="0" bIns="0" anchor="t" anchorCtr="0">
            <a:noAutofit/>
          </a:bodyPr>
          <a:lstStyle/>
          <a:p>
            <a:pPr marL="342900" indent="-342900">
              <a:lnSpc>
                <a:spcPct val="150000"/>
              </a:lnSpc>
              <a:buAutoNum type="arabicPeriod"/>
            </a:pPr>
            <a:r>
              <a:rPr lang="en-IN" sz="1800" b="1" dirty="0"/>
              <a:t>Advanced Personalized and Adaptive Learning</a:t>
            </a:r>
          </a:p>
          <a:p>
            <a:pPr>
              <a:lnSpc>
                <a:spcPct val="150000"/>
              </a:lnSpc>
            </a:pPr>
            <a:r>
              <a:rPr lang="en-IN" sz="1600" dirty="0"/>
              <a:t>The system can be enhanced with advanced AI algorithms to understand individual learning patterns, predict weak areas, and automatically adjust study plans based on student performance. Future versions can support multilingual learning, voice-based interaction, video recommendations, and integration with learning management systems to deliver a more intelligent and engaging learning experience.</a:t>
            </a:r>
          </a:p>
          <a:p>
            <a:pPr>
              <a:lnSpc>
                <a:spcPct val="150000"/>
              </a:lnSpc>
            </a:pPr>
            <a:endParaRPr lang="en-IN" sz="1600" dirty="0"/>
          </a:p>
          <a:p>
            <a:pPr>
              <a:lnSpc>
                <a:spcPct val="150000"/>
              </a:lnSpc>
            </a:pPr>
            <a:r>
              <a:rPr lang="en-IN" sz="1800" b="1" dirty="0"/>
              <a:t>2. Smart Automation and Scalable Integration</a:t>
            </a:r>
          </a:p>
          <a:p>
            <a:pPr>
              <a:lnSpc>
                <a:spcPct val="150000"/>
              </a:lnSpc>
            </a:pPr>
            <a:r>
              <a:rPr lang="en-IN" sz="1600" dirty="0"/>
              <a:t>The agent can be extended with automated syllabus analysis, previous question paper evaluation, exam performance prediction, and real-time progress analytics. Integration with cloud platforms, educational databases, and mobile applications can make the Smart Study Generator a scalable, accessible, and intelligent learning assistant for students across different courses and institutions.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88C341-1F2F-9B6F-593F-2917E7E23DCB}"/>
              </a:ext>
            </a:extLst>
          </p:cNvPr>
          <p:cNvPicPr>
            <a:picLocks noChangeAspect="1"/>
          </p:cNvPicPr>
          <p:nvPr/>
        </p:nvPicPr>
        <p:blipFill>
          <a:blip r:embed="rId2"/>
          <a:srcRect/>
          <a:stretch/>
        </p:blipFill>
        <p:spPr>
          <a:xfrm>
            <a:off x="1051242" y="884488"/>
            <a:ext cx="9675752" cy="5649818"/>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2081" r="2081"/>
          <a:stretch/>
        </p:blipFill>
        <p:spPr>
          <a:xfrm>
            <a:off x="1316118" y="903499"/>
            <a:ext cx="9236812" cy="5650528"/>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29496" y="2101814"/>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1247</Words>
  <Application>Microsoft Office PowerPoint</Application>
  <PresentationFormat>Widescreen</PresentationFormat>
  <Paragraphs>140</Paragraphs>
  <Slides>19</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Kodidhala Supriya</cp:lastModifiedBy>
  <cp:revision>3</cp:revision>
  <dcterms:created xsi:type="dcterms:W3CDTF">2025-07-08T05:06:56Z</dcterms:created>
  <dcterms:modified xsi:type="dcterms:W3CDTF">2026-10-10T15:43:38Z</dcterms:modified>
</cp:coreProperties>
</file>